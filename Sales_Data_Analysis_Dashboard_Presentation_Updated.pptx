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731520"/>
            <a:ext cx="2377440" cy="914400"/>
          </a:xfrm>
          <a:prstGeom prst="round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1828800"/>
            <a:ext cx="1645920" cy="1828800"/>
          </a:xfrm>
          <a:prstGeom prst="round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4023360"/>
            <a:ext cx="3200400" cy="1097280"/>
          </a:xfrm>
          <a:prstGeom prst="round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406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SALES DATA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ANALYSIS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BFD5ED"/>
                </a:solidFill>
                <a:latin typeface="Aptos"/>
              </a:defRPr>
            </a:pPr>
            <a:r>
              <a:t>Internship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Python  •  Pandas  •  NumPy  •  Matplotlib  • 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FD5ED"/>
                </a:solidFill>
                <a:latin typeface="Aptos"/>
              </a:defRPr>
            </a:pPr>
            <a:r>
              <a:t>Data cleaning → Analysis → Visualization →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FD5E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From raw sales data to a business-focused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B3543"/>
                </a:solidFill>
                <a:latin typeface="Aptos"/>
              </a:defRPr>
            </a:pPr>
            <a:r>
              <a:t>Analyzed a Superstore sales dataset to understand business performance.</a:t>
            </a:r>
          </a:p>
          <a:p>
            <a:pPr>
              <a:spcAft>
                <a:spcPts val="1500"/>
              </a:spcAft>
              <a:defRPr sz="2200">
                <a:solidFill>
                  <a:srgbClr val="2B3543"/>
                </a:solidFill>
                <a:latin typeface="Aptos"/>
              </a:defRPr>
            </a:pPr>
            <a:r>
              <a:t>Prepared and validated data using a Python-based workflow.</a:t>
            </a:r>
          </a:p>
          <a:p>
            <a:pPr>
              <a:spcAft>
                <a:spcPts val="1500"/>
              </a:spcAft>
              <a:defRPr sz="2200">
                <a:solidFill>
                  <a:srgbClr val="2B3543"/>
                </a:solidFill>
                <a:latin typeface="Aptos"/>
              </a:defRPr>
            </a:pPr>
            <a:r>
              <a:t>Compared sales trends across time, regions, categories, and products.</a:t>
            </a:r>
          </a:p>
          <a:p>
            <a:pPr>
              <a:spcAft>
                <a:spcPts val="1500"/>
              </a:spcAft>
              <a:defRPr sz="2200">
                <a:solidFill>
                  <a:srgbClr val="2B3543"/>
                </a:solidFill>
                <a:latin typeface="Aptos"/>
              </a:defRPr>
            </a:pPr>
            <a:r>
              <a:t>Built a Power BI dashboard to present key metrics in one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Questions the analysis aims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E68B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556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162745"/>
                </a:solidFill>
                <a:latin typeface="Aptos"/>
              </a:defRPr>
            </a:pPr>
            <a:r>
              <a:t>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57281"/>
                </a:solidFill>
                <a:latin typeface="Aptos"/>
              </a:defRPr>
            </a:pPr>
            <a:r>
              <a:t>Inspect and clean data before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C97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7556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162745"/>
                </a:solidFill>
                <a:latin typeface="Aptos"/>
              </a:defRPr>
            </a:pPr>
            <a:r>
              <a:t>Measure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402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57281"/>
                </a:solidFill>
                <a:latin typeface="Aptos"/>
              </a:defRPr>
            </a:pPr>
            <a:r>
              <a:t>Summarize sales, profit, orders, and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ECB1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130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162745"/>
                </a:solidFill>
                <a:latin typeface="Aptos"/>
              </a:defRPr>
            </a:pPr>
            <a:r>
              <a:t>Compare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976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57281"/>
                </a:solidFill>
                <a:latin typeface="Aptos"/>
              </a:defRPr>
            </a:pPr>
            <a:r>
              <a:t>Find leading regions, categories, and products.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6118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E68B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8130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162745"/>
                </a:solidFill>
                <a:latin typeface="Aptos"/>
              </a:defRPr>
            </a:pPr>
            <a:r>
              <a:t>Communicate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2976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57281"/>
                </a:solidFill>
                <a:latin typeface="Aptos"/>
              </a:defRPr>
            </a:pPr>
            <a:r>
              <a:t>Use charts and KPIs to support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Superstore sales dataset used in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82296" cy="1325880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21488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10,194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82296" cy="132588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645920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29968"/>
            <a:ext cx="21488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82296" cy="132588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45920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29968"/>
            <a:ext cx="21488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804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6304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82296" cy="1325880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45920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29968"/>
            <a:ext cx="19202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1,862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B3543"/>
                </a:solidFill>
                <a:latin typeface="Aptos"/>
              </a:defRPr>
            </a:pPr>
            <a:r>
              <a:t>Orders and shipping dates</a:t>
            </a:r>
          </a:p>
          <a:p>
            <a:pPr>
              <a:spcAft>
                <a:spcPts val="1500"/>
              </a:spcAft>
              <a:defRPr sz="1800">
                <a:solidFill>
                  <a:srgbClr val="2B3543"/>
                </a:solidFill>
                <a:latin typeface="Aptos"/>
              </a:defRPr>
            </a:pPr>
            <a:r>
              <a:t>Customer and geographic details</a:t>
            </a:r>
          </a:p>
          <a:p>
            <a:pPr>
              <a:spcAft>
                <a:spcPts val="1500"/>
              </a:spcAft>
              <a:defRPr sz="1800">
                <a:solidFill>
                  <a:srgbClr val="2B3543"/>
                </a:solidFill>
                <a:latin typeface="Aptos"/>
              </a:defRPr>
            </a:pPr>
            <a:r>
              <a:t>Product category and sub-category</a:t>
            </a:r>
          </a:p>
          <a:p>
            <a:pPr>
              <a:spcAft>
                <a:spcPts val="1500"/>
              </a:spcAft>
              <a:defRPr sz="1800">
                <a:solidFill>
                  <a:srgbClr val="2B3543"/>
                </a:solidFill>
                <a:latin typeface="Aptos"/>
              </a:defRPr>
            </a:pPr>
            <a:r>
              <a:t>Sales, quantity, discount, and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Each tool supports a stage of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109728" cy="658368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6362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57281"/>
                </a:solidFill>
                <a:latin typeface="Aptos"/>
              </a:defRPr>
            </a:pPr>
            <a:r>
              <a:t>Core scripting and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109728" cy="658368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231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Pandas /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3230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57281"/>
                </a:solidFill>
                <a:latin typeface="Aptos"/>
              </a:defRPr>
            </a:pPr>
            <a:r>
              <a:t>Data cleaning and manipulation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5468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154680"/>
            <a:ext cx="109728" cy="658368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0098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57281"/>
                </a:solidFill>
                <a:latin typeface="Aptos"/>
              </a:defRPr>
            </a:pPr>
            <a:r>
              <a:t>Exploratory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5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023359"/>
            <a:ext cx="109728" cy="658368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160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69663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57281"/>
                </a:solidFill>
                <a:latin typeface="Aptos"/>
              </a:defRPr>
            </a:pPr>
            <a:r>
              <a:t>KPI cards and dashboard visuals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920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92040"/>
            <a:ext cx="109728" cy="658368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029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3834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57281"/>
                </a:solidFill>
                <a:latin typeface="Aptos"/>
              </a:defRPr>
            </a:pPr>
            <a:r>
              <a:t>Version control and project 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A repeatable data-analysis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17627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2E68B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432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1868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57281"/>
                </a:solidFill>
                <a:latin typeface="Aptos"/>
              </a:defRPr>
            </a:pPr>
            <a:r>
              <a:t>Shape, columns, types,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7889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C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96596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217627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C97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7432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21868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57281"/>
                </a:solidFill>
                <a:latin typeface="Aptos"/>
              </a:defRPr>
            </a:pPr>
            <a:r>
              <a:t>Text, dates, numeric fields,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7889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C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96596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17627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2E68B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7432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321868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57281"/>
                </a:solidFill>
                <a:latin typeface="Aptos"/>
              </a:defRPr>
            </a:pPr>
            <a:r>
              <a:t>KPIs and segment-level summaries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7889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C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0376" y="196596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217627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C97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27432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321868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57281"/>
                </a:solidFill>
                <a:latin typeface="Aptos"/>
              </a:defRPr>
            </a:pPr>
            <a:r>
              <a:t>Python charts and Power BI visuals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7889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C97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9528" y="196596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2176272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2E68B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7432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21868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57281"/>
                </a:solidFill>
                <a:latin typeface="Aptos"/>
              </a:defRPr>
            </a:pPr>
            <a:r>
              <a:t>Insights, caveats,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Summary values calculated from the supplied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82296" cy="1417320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84248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$2.33M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57281"/>
                </a:solidFill>
                <a:latin typeface="Aptos"/>
              </a:defRPr>
            </a:pPr>
            <a:r>
              <a:t>Exact: $2,326,534.35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82296" cy="141732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002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84248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$292.30K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505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57281"/>
                </a:solidFill>
                <a:latin typeface="Aptos"/>
              </a:defRPr>
            </a:pPr>
            <a:r>
              <a:t>Exact: $292,296.81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41732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002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84248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5,111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505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57281"/>
                </a:solidFill>
                <a:latin typeface="Aptos"/>
              </a:defRPr>
            </a:pPr>
            <a:r>
              <a:t>Distinct order 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337560"/>
            <a:ext cx="82296" cy="1417320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5204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904487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38,654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37083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57281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337560"/>
            <a:ext cx="82296" cy="141732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204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04487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~12.6%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7083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57281"/>
                </a:solidFill>
                <a:latin typeface="Aptos"/>
              </a:defRPr>
            </a:pPr>
            <a:r>
              <a:t>Profit ÷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57281"/>
                </a:solidFill>
                <a:latin typeface="Aptos"/>
              </a:defRPr>
            </a:pPr>
            <a:r>
              <a:t>Also identified 804 customers and 1,862 unique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6" name="Picture 5" descr="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842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Highlights from regional, category, and product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508760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WEST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$739,813.61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Highest regional sales in the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82296" cy="1508760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39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75688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$839,893.28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815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Leading category by sales.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82296" cy="1508760"/>
          </a:xfrm>
          <a:prstGeom prst="rect">
            <a:avLst/>
          </a:prstGeom>
          <a:solidFill>
            <a:srgbClr val="EC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TOP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$61,599.82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474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Canon imageCLASS 2200 Advanced Copier.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747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74720"/>
            <a:ext cx="82296" cy="1508760"/>
          </a:xfrm>
          <a:prstGeom prst="rect">
            <a:avLst/>
          </a:prstGeom>
          <a:solidFill>
            <a:srgbClr val="2E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OVERALL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41648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162745"/>
                </a:solidFill>
                <a:latin typeface="Aptos"/>
              </a:defRPr>
            </a:pPr>
            <a:r>
              <a:t>~12.6%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474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Review margin by product and segment.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Recommendations and Data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Use the results to guide follow-up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543"/>
                </a:solidFill>
                <a:latin typeface="Aptos"/>
              </a:defRPr>
            </a:pPr>
            <a:r>
              <a:t>Investigate the factors behind strong sales in the West and East regions.</a:t>
            </a:r>
          </a:p>
          <a:p>
            <a:pPr>
              <a:spcAft>
                <a:spcPts val="1500"/>
              </a:spcAft>
              <a:defRPr sz="1900">
                <a:solidFill>
                  <a:srgbClr val="2B3543"/>
                </a:solidFill>
                <a:latin typeface="Aptos"/>
              </a:defRPr>
            </a:pPr>
            <a:r>
              <a:t>Compare profit margins by product and category, not revenue alone.</a:t>
            </a:r>
          </a:p>
          <a:p>
            <a:pPr>
              <a:spcAft>
                <a:spcPts val="1500"/>
              </a:spcAft>
              <a:defRPr sz="1900">
                <a:solidFill>
                  <a:srgbClr val="2B3543"/>
                </a:solidFill>
                <a:latin typeface="Aptos"/>
              </a:defRPr>
            </a:pPr>
            <a:r>
              <a:t>Use top-product performance to inform inventory and promotion reviews.</a:t>
            </a:r>
          </a:p>
          <a:p>
            <a:pPr>
              <a:spcAft>
                <a:spcPts val="1500"/>
              </a:spcAft>
              <a:defRPr sz="1900">
                <a:solidFill>
                  <a:srgbClr val="2B3543"/>
                </a:solidFill>
                <a:latin typeface="Aptos"/>
              </a:defRPr>
            </a:pPr>
            <a:r>
              <a:t>Validate records dated after October 13, 2026 before drawing time-based or seasonal conclusions.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86400"/>
            <a:ext cx="10332720" cy="548640"/>
          </a:xfrm>
          <a:prstGeom prst="roundRect">
            <a:avLst/>
          </a:prstGeom>
          <a:solidFill>
            <a:srgbClr val="FFF8E6"/>
          </a:solidFill>
          <a:ln>
            <a:solidFill>
              <a:srgbClr val="EC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32704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B3543"/>
                </a:solidFill>
                <a:latin typeface="Aptos"/>
              </a:defRPr>
            </a:pPr>
            <a:r>
              <a:t>Data-quality note: the supplied dataset includes future-dated November and December 2026 entries.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6274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57281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5728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B3543"/>
                </a:solidFill>
                <a:latin typeface="Aptos"/>
              </a:defRPr>
            </a:pPr>
            <a:r>
              <a:t>Built an end-to-end workflow from data inspection and cleaning to analysis.</a:t>
            </a:r>
          </a:p>
          <a:p>
            <a:pPr>
              <a:spcAft>
                <a:spcPts val="1500"/>
              </a:spcAft>
              <a:defRPr sz="2100">
                <a:solidFill>
                  <a:srgbClr val="2B3543"/>
                </a:solidFill>
                <a:latin typeface="Aptos"/>
              </a:defRPr>
            </a:pPr>
            <a:r>
              <a:t>Summarized core business KPIs and compared sales performance across segments.</a:t>
            </a:r>
          </a:p>
          <a:p>
            <a:pPr>
              <a:spcAft>
                <a:spcPts val="1500"/>
              </a:spcAft>
              <a:defRPr sz="2100">
                <a:solidFill>
                  <a:srgbClr val="2B3543"/>
                </a:solidFill>
                <a:latin typeface="Aptos"/>
              </a:defRPr>
            </a:pPr>
            <a:r>
              <a:t>Created visual outputs in Python and a consolidated Power BI dashboard.</a:t>
            </a:r>
          </a:p>
          <a:p>
            <a:pPr>
              <a:spcAft>
                <a:spcPts val="1500"/>
              </a:spcAft>
              <a:defRPr sz="2100">
                <a:solidFill>
                  <a:srgbClr val="2B3543"/>
                </a:solidFill>
                <a:latin typeface="Aptos"/>
              </a:defRPr>
            </a:pPr>
            <a:r>
              <a:t>The analysis provides a foundation for deeper profitability and trend investigations.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000" b="0">
                <a:solidFill>
                  <a:srgbClr val="BFD5ED"/>
                </a:solidFill>
                <a:latin typeface="Aptos"/>
              </a:defRPr>
            </a:pPr>
            <a:r>
              <a:t>Sales Data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4617720"/>
            <a:ext cx="2468880" cy="73152"/>
          </a:xfrm>
          <a:prstGeom prst="rect">
            <a:avLst/>
          </a:prstGeom>
          <a:solidFill>
            <a:srgbClr val="1C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FD5E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